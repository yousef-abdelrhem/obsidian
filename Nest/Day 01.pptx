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61" r:id="rId3"/>
    <p:sldId id="262" r:id="rId4"/>
    <p:sldId id="263" r:id="rId5"/>
    <p:sldId id="265" r:id="rId6"/>
    <p:sldId id="266" r:id="rId7"/>
    <p:sldId id="268" r:id="rId8"/>
    <p:sldId id="309" r:id="rId9"/>
    <p:sldId id="271" r:id="rId10"/>
    <p:sldId id="270" r:id="rId11"/>
    <p:sldId id="267" r:id="rId12"/>
    <p:sldId id="274" r:id="rId13"/>
    <p:sldId id="275" r:id="rId14"/>
    <p:sldId id="279" r:id="rId15"/>
    <p:sldId id="276" r:id="rId16"/>
    <p:sldId id="277" r:id="rId17"/>
    <p:sldId id="280" r:id="rId18"/>
    <p:sldId id="281" r:id="rId19"/>
    <p:sldId id="282" r:id="rId20"/>
    <p:sldId id="311" r:id="rId21"/>
    <p:sldId id="312" r:id="rId22"/>
    <p:sldId id="283" r:id="rId23"/>
    <p:sldId id="326" r:id="rId24"/>
    <p:sldId id="284" r:id="rId25"/>
    <p:sldId id="318" r:id="rId26"/>
    <p:sldId id="285" r:id="rId27"/>
    <p:sldId id="289" r:id="rId28"/>
    <p:sldId id="290" r:id="rId29"/>
    <p:sldId id="287" r:id="rId30"/>
    <p:sldId id="288" r:id="rId31"/>
    <p:sldId id="316" r:id="rId32"/>
    <p:sldId id="291" r:id="rId33"/>
    <p:sldId id="298" r:id="rId34"/>
    <p:sldId id="299" r:id="rId35"/>
    <p:sldId id="296" r:id="rId36"/>
    <p:sldId id="300" r:id="rId37"/>
    <p:sldId id="301" r:id="rId38"/>
    <p:sldId id="302" r:id="rId39"/>
    <p:sldId id="315" r:id="rId40"/>
    <p:sldId id="294" r:id="rId41"/>
    <p:sldId id="307" r:id="rId42"/>
    <p:sldId id="308" r:id="rId43"/>
    <p:sldId id="321" r:id="rId44"/>
    <p:sldId id="322" r:id="rId45"/>
    <p:sldId id="323" r:id="rId46"/>
    <p:sldId id="324" r:id="rId47"/>
    <p:sldId id="317" r:id="rId48"/>
    <p:sldId id="32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23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78" autoAdjust="0"/>
  </p:normalViewPr>
  <p:slideViewPr>
    <p:cSldViewPr snapToGrid="0">
      <p:cViewPr varScale="1">
        <p:scale>
          <a:sx n="64" d="100"/>
          <a:sy n="64" d="100"/>
        </p:scale>
        <p:origin x="14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E4A09-8F8A-4B78-911B-C201F51CE817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286C8-9C96-4101-AEFA-61F0E465B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85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8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DC73-F4FD-BDFB-A75E-BDFD4FC9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4C1AA-A0E3-1BFE-E4BF-7CC7D63A3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E229F-6CEA-F49E-8998-B58DC5830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E3DC9-9932-BA43-1DF3-7548CA44B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43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87CE-3838-5B09-E267-FBFBEAA3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8DA40-5E6B-08C6-3D54-A6761BBA9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F0419-E538-47FE-BC8A-493235B82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33672-C4FC-F04C-E795-2D1C368A1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61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5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8007-0245-0B7F-33B7-DED25814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F302C-8203-2AF3-0771-620C9A172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D60B8-0C84-7386-E59D-9FFB02AF5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4C11-7FEC-4F6D-154B-256EC5D89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71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44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0477-D4A9-5B8E-2D08-A350CA163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502AF-7F32-FA45-B1C8-38E9011BC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9A7E8-164C-D0C8-90A9-F62F4FFC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5E68B-CD41-3F2E-51D1-49ABA6906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65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85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72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84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73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32C5-B562-56D9-7319-7CFEFDEC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FD081-0943-20BD-724A-AE166274D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CB964-A572-634F-FD6D-8EA14ADBA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8BB1D-5EA7-FFE6-3E5E-34BAE6343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24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33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08A-2FBA-4CEF-5B99-63C2168E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71E76-252B-D394-CACB-A28ADCCC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1C293-0A04-FE80-F356-D094F772F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00DCC-32F1-9FF2-67F7-1AF96BD0D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97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DB2E-A6AE-262D-3BEB-20197306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E8061-FB15-94D3-CF63-6BBCBCCDA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20AD6-292E-FEB9-7D44-FA3241076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E7095-F7F7-6E2B-3DF3-8B9699B95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30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74FD-5273-6E3B-85CF-BBE83207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3114C-6624-F273-E057-0F615F2FC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99204-3F77-384F-305B-5E9882629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793FF-ED83-8B7F-6ED2-A93515CC3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64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FE3B-37CF-61F2-7D00-F0F40448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91F93-0B03-3564-69B3-EA9364AF5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1A5EA-70AC-79B7-09D9-310BE6D07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8611-5AB6-87FE-383A-7771E8B3F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47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2028-B4E2-89E2-38E0-42D92A5D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99300-770F-A464-1C43-CC2DFAA7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59C7B-244A-02E2-A483-8543E0546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1F3DD-223E-9988-1B37-7ED0EDB9C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45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8D64-0CFE-4A83-A4E7-2EE5D1102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DA3E1-FFC1-AB72-68B3-46D96DA94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B6F6A-A66B-0B63-0BB8-E3D115C02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B92C5-2548-A5A5-9427-721379F1D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01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658F-C8EC-94A3-8445-E7B3C2533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AF799-BBEF-9AEC-A961-35F7775B3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AFDBE-81E9-4D46-067D-A2894B516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D5E68-2325-6D7A-C190-4509B53E5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0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3E64-22F9-AADF-6FCC-01B04100E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3A4E3-0CCD-BB4A-0975-5D1767D17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FA102-2936-104D-AF60-AF3FDBF6B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7EA5E-77F9-9EDD-EC3B-C62E53D93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31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ED46-5D8B-E93F-9731-BF023DC2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5C396-EA0C-D197-12F7-BE6314746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1439B-9375-BE04-1495-5CD6D23E7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5E83F-E10B-90C2-421F-A17E82756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25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64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4212-6BAC-279E-D357-92DF5A76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15365-FC21-C184-CD7F-7E36C2C5F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6FA48-E93B-9692-DDAC-6F94E744C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06923-75AC-3292-1DF0-ACBD39E3B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392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3FD65-2DE4-2774-DD13-8782CB12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84648-3F68-0A37-74D4-6B887FEB5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E4147-17D1-2AFE-C2FF-12FE9BA7F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8845-945F-31B1-6E55-B3322DFAC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01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371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47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29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1C05-7C4D-AF87-109F-44B86698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CEC76-A8B2-2DD9-903B-934FAFB60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9285E-9A7B-43D0-2490-02311486A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2B21-042F-8CC7-5F85-BEE2E4952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070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B133-FEDD-B749-D4FA-EF8698CA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05CFD-C78C-E166-A7A0-871220B0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69E36-46CB-C7A9-7E89-10B0A27A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09034-8975-213E-A431-47D6BCBA9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115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50C6-6C3D-541B-D914-3FA8C775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ADD2E-A698-C812-F736-2D71D1242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2097B-1F08-07F9-A9D3-E2B2AFC00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63930-BA2F-65D3-4F4C-19E7B4BA8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44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C3F5-E586-227D-4F3A-58A62161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C0B73-D39D-A94D-7949-FEBAB0785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688B4-17CD-04A1-3A44-DA197B685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AF8A4-7C16-0E11-F329-3B4C90C81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080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17C8-B8C4-2B9E-A63D-543C0219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A3BFB-4BD0-B6A0-53EB-65544389A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4EBEE-F569-B4AD-F870-F1DFF1151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40533-CBA7-79A5-70C1-165E4EB2D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805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3D36-82FE-77BF-08AB-30182858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7189E-3622-0C6D-5D2E-4257127B8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762C1-CC65-6CC2-57E3-2319850E0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882E0-A018-3B2A-43BC-78CED7542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361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EA96-560A-2AC4-D9F9-83F525F8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9E8CD-E7F2-7558-1AB6-4F1B2F098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F2D92-5653-E569-4115-9B4C801A9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buNone/>
            </a:pPr>
            <a:endParaRPr lang="ar-E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BDE0-9567-011D-FDD4-CC729FF93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488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E1D5-75AE-13E8-F65A-5BC514FF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06F27-A714-E0C2-3D38-61F716322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5AFA-176E-88E7-83CD-624488C4E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351CF-217E-CF2E-BD24-C8C9F41F5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61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F4FF-DBD1-DD2D-1A1F-9F44898D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FAA8F-280E-198D-BEBA-7DA8E2569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7F9E3-8B88-0546-F2A1-DABE6FE40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2B9B9-40E7-4CFF-F4E8-DBEF0ADF9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286C8-9C96-4101-AEFA-61F0E465BEC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7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004D-FBD9-C100-4E82-D1C01CAD1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14D20-F8AB-B0D2-6C29-C2262FA45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7A0A8-198E-5B57-89F7-5B3EE2C8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9E2F3-6A23-761B-C640-9DE1F709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D1879-B716-A09D-8B93-C60595B2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8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0188-1FCB-732C-86BF-990EBD32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2D29-19FE-AB69-C52C-1F37A4EB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8C0C9-AA9A-8AAD-0DB8-E8C45799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6614-27D9-2D7B-47A5-711CD073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E133-A071-3123-DD9C-852555BD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0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C013-B3FB-C61B-F0D4-FACDEBF7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438D9-ED77-11EF-4799-B97656BB4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C3368-7C90-3247-AC8E-DB77F792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B1F8-E53E-63B9-A22F-A60413D2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1CB0-1DBA-101E-E874-EBC61129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5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48D9-F7B8-3285-2888-E775AEF4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ACFC-C861-0526-7752-7397890FA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195A5-572C-46FD-39F2-85F371351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57FE6-2BAE-2B44-459F-DFE701F6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932E8-751A-D212-0F94-3E40F890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2CA3D-50CC-24D8-6DA6-EB02F9EC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1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0CE3-07FD-7262-517E-D7AB18A9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5C0F1-252A-21CD-35D6-5C5C6241C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56E49-34D6-44AF-3CB7-4C269E1F2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75FBA-6BCA-1CB8-5645-FE8FA504D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9A259-66D6-B2F8-3AD3-13A847B1A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CB388-D43E-2A53-FA3E-C4322C5D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FFBF8-CDC7-3C4D-72C3-305CD4CF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268C8D-B98D-7CA4-E4A0-9FA20621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1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3AD1-A61E-8934-6F58-2E969D46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8FB30-21C6-EC2D-D048-31EB640C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22A4-5091-BC9B-4C1F-881DC15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7D03E-468B-A0DB-6C3C-740DD4F6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7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A7F3E-837A-CA32-7FC5-882EE841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1D2D0-23B4-9185-3E37-3960BEDB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66F03-4E9D-3FF3-CB19-E6AC9F23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6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E127-7F77-F45B-1FA9-75CD8D78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9B23-A3DF-7986-FB3A-A47C5E8A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BFA52-9FB0-9D33-BAD1-FBB6DF815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66A38-291D-1447-FC6D-AFE0B534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94872-9FDA-62EE-2873-CE1C7E6A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51129-C578-4AA8-87B0-72181D99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8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8D2F-03C7-507B-D14C-8A6876EC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DFD9B-2907-5DC3-16B7-7C95E87A9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AF10-BDAC-09A6-6A27-721E560D5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099A1-0192-DED3-7233-7F627F4F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1D388-FB63-7633-AFF6-ED7CF229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4C296-6D2A-B884-4581-3E85DA55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CA86-8F53-6111-8501-65A9C444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85AF0-F52A-6268-32D9-316462088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6C317-758D-30F5-5121-A9335F32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EB85A-E458-D8FF-3B2A-852851B1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4B50-9469-2B76-D90E-7E7C596B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1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B72535-528F-D7CE-4AEA-9C5CD0582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2A9F2-0A81-1A79-0608-DB86280A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9A312-D7CE-14EC-DF87-BECB7062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CBD7A-BC56-F101-9A19-0D30C6F8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F6EB-96AD-C40E-6EEC-47978D49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71E98-8AD3-9799-41E4-8A66FC16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1FA1B-C0D9-F8C8-1E53-8EFFBE25E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89A83-233F-4CEF-4B13-F7CC8D43E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73DDA-0041-48CC-BAF7-8B89E309310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1351B-8752-F91A-ECFA-0FB7E82C8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7271B-2DC8-A4DC-E07A-363824715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64226-CDDE-4AC9-BD57-AFDD00D44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0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The NestJS Revolution: Powering Your Backend Development with Ease">
            <a:extLst>
              <a:ext uri="{FF2B5EF4-FFF2-40B4-BE49-F238E27FC236}">
                <a16:creationId xmlns:a16="http://schemas.microsoft.com/office/drawing/2014/main" id="{7183A319-F2FE-C1CC-FE41-9545E81B7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55D7F0-9960-A8C1-6B60-05B7DD1C5450}"/>
              </a:ext>
            </a:extLst>
          </p:cNvPr>
          <p:cNvSpPr txBox="1"/>
          <p:nvPr/>
        </p:nvSpPr>
        <p:spPr>
          <a:xfrm>
            <a:off x="6513819" y="3950034"/>
            <a:ext cx="32712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0234E"/>
                </a:solidFill>
              </a:rPr>
              <a:t>ITI Course @ 2025</a:t>
            </a:r>
          </a:p>
          <a:p>
            <a:r>
              <a:rPr lang="en-US" sz="2800" b="1" dirty="0">
                <a:solidFill>
                  <a:srgbClr val="E0234E"/>
                </a:solidFill>
              </a:rPr>
              <a:t>Ali Ahmed</a:t>
            </a:r>
          </a:p>
        </p:txBody>
      </p:sp>
    </p:spTree>
    <p:extLst>
      <p:ext uri="{BB962C8B-B14F-4D97-AF65-F5344CB8AC3E}">
        <p14:creationId xmlns:p14="http://schemas.microsoft.com/office/powerpoint/2010/main" val="185509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A8B9-A724-AE6C-4AFF-E3FFDE3B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88BAFB4-90FF-0392-6F3B-62B68A387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519B2-3026-C8F4-634D-322DA784E8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48" t="1889" r="33377" b="92467"/>
          <a:stretch/>
        </p:blipFill>
        <p:spPr>
          <a:xfrm>
            <a:off x="0" y="566451"/>
            <a:ext cx="12188952" cy="572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3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A8568-D72F-CBD2-52F5-22B326AA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706A4FB-6EF6-6997-98A4-684F0916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06355-62B1-ED82-DB09-BF653437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01" t="11264" r="5631" b="84780"/>
          <a:stretch/>
        </p:blipFill>
        <p:spPr>
          <a:xfrm>
            <a:off x="0" y="566451"/>
            <a:ext cx="12188952" cy="572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9E24C-17EB-B425-8B21-696F9612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BDFEAFC1-670D-C7AA-279A-C22F6140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E3D8B-B1B2-077C-B8D4-6EF90C57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19" t="16646" r="24131" b="79490"/>
          <a:stretch/>
        </p:blipFill>
        <p:spPr>
          <a:xfrm>
            <a:off x="0" y="1301750"/>
            <a:ext cx="12188952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0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BAE04-C929-906F-E80D-8E42043F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9C3FA0B-0B14-699B-69E9-7BBC434C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6B687-3A6F-07DA-FFD3-BF8504DB1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9" t="20369" r="5221" b="70630"/>
          <a:stretch/>
        </p:blipFill>
        <p:spPr>
          <a:xfrm>
            <a:off x="0" y="566451"/>
            <a:ext cx="12188952" cy="572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5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1B2E2C-1AD1-C372-06F8-050125FFE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8FABC8-D19E-CEFC-4623-CBA429CB2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5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06903-E679-1669-0AC3-728CA64F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7C5F95-567E-817E-CDA0-6BCEA2E7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F8A1F4-15D0-767F-0996-92D60D0E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Supports TypeScript and JavaScript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Built on Top of Express (</a:t>
            </a:r>
            <a:r>
              <a:rPr lang="en-US" sz="3200" b="1" dirty="0"/>
              <a:t>default</a:t>
            </a:r>
            <a:r>
              <a:rPr lang="en-US" sz="3200" dirty="0"/>
              <a:t>) and Fastify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Access to Third-Party Modules (e.g. </a:t>
            </a:r>
            <a:r>
              <a:rPr lang="en-US" b="1" dirty="0" err="1"/>
              <a:t>bcryptjs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03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AF85-D7EC-0923-3AFD-5124FBF6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omplete Guide to Nest Design Pattern | by xxkeith | Stackademic">
            <a:extLst>
              <a:ext uri="{FF2B5EF4-FFF2-40B4-BE49-F238E27FC236}">
                <a16:creationId xmlns:a16="http://schemas.microsoft.com/office/drawing/2014/main" id="{95D1CDCD-43FF-50B0-7E1C-E484B4B52E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25"/>
          <a:stretch/>
        </p:blipFill>
        <p:spPr bwMode="auto">
          <a:xfrm>
            <a:off x="1164702" y="2763856"/>
            <a:ext cx="9862595" cy="372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Complete Guide to Nest Design Pattern | by xxkeith | Stackademic">
            <a:extLst>
              <a:ext uri="{FF2B5EF4-FFF2-40B4-BE49-F238E27FC236}">
                <a16:creationId xmlns:a16="http://schemas.microsoft.com/office/drawing/2014/main" id="{F8FC958A-1835-5B8E-B283-703DAC75B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16"/>
          <a:stretch/>
        </p:blipFill>
        <p:spPr bwMode="auto">
          <a:xfrm>
            <a:off x="1164702" y="3900667"/>
            <a:ext cx="9862595" cy="259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711183-6CD8-10BE-86EA-E87ECFBB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[</a:t>
            </a:r>
            <a:r>
              <a:rPr lang="en-US" sz="2800" b="1" dirty="0"/>
              <a:t>Evolution of Node.js Servers</a:t>
            </a:r>
            <a:r>
              <a:rPr lang="en-US" dirty="0"/>
              <a:t>]</a:t>
            </a:r>
          </a:p>
        </p:txBody>
      </p:sp>
      <p:pic>
        <p:nvPicPr>
          <p:cNvPr id="3" name="Picture 2" descr="A Complete Guide to Nest Design Pattern | by xxkeith | Stackademic">
            <a:extLst>
              <a:ext uri="{FF2B5EF4-FFF2-40B4-BE49-F238E27FC236}">
                <a16:creationId xmlns:a16="http://schemas.microsoft.com/office/drawing/2014/main" id="{80A376AF-B742-FB3D-8387-20E2C31D3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701" y="1438293"/>
            <a:ext cx="9862595" cy="505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D1F9-7407-EEA2-512A-0422A620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F90E31-786D-D5E8-4038-20B118330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Installation Steps for NestJS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CFD045-D9B3-63FB-FB5F-AB287CE2E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2364-B032-AA40-BD25-5279DED1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54D57-C189-C4E7-31CC-1364D7EE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Steps for NestJS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102559-9C61-DECD-A3E2-9A5952479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Start with Nest CLI [</a:t>
            </a:r>
            <a:r>
              <a:rPr lang="en-US" sz="3200" b="1" dirty="0"/>
              <a:t>Command-line interface tool</a:t>
            </a:r>
            <a:r>
              <a:rPr lang="en-US" sz="3200" dirty="0"/>
              <a:t>]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Commands for Nest CLI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Install the Nest CLI globally: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nn-NO" sz="2800" dirty="0">
                <a:solidFill>
                  <a:schemeClr val="bg1"/>
                </a:solidFill>
                <a:highlight>
                  <a:srgbClr val="000000"/>
                </a:highlight>
              </a:rPr>
              <a:t>npm i -g @nestjs/cli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Verify the Nest CLI is Working: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 nest --version</a:t>
            </a:r>
            <a:endParaRPr lang="nn-NO" sz="2800" dirty="0"/>
          </a:p>
          <a:p>
            <a:pPr lvl="1">
              <a:lnSpc>
                <a:spcPct val="150000"/>
              </a:lnSpc>
            </a:pPr>
            <a:r>
              <a:rPr lang="nn-NO" sz="2800" dirty="0"/>
              <a:t>Create a New Project: </a:t>
            </a:r>
            <a:r>
              <a:rPr lang="nn-NO" sz="2800" dirty="0">
                <a:solidFill>
                  <a:schemeClr val="bg1"/>
                </a:solidFill>
                <a:highlight>
                  <a:srgbClr val="000000"/>
                </a:highlight>
              </a:rPr>
              <a:t> nest new project-name</a:t>
            </a:r>
          </a:p>
        </p:txBody>
      </p:sp>
    </p:spTree>
    <p:extLst>
      <p:ext uri="{BB962C8B-B14F-4D97-AF65-F5344CB8AC3E}">
        <p14:creationId xmlns:p14="http://schemas.microsoft.com/office/powerpoint/2010/main" val="421449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8182-F409-60CF-AE02-26D49335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8967A-FEA5-8CE0-6832-27EC8EB10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CRUD Application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7C55A9-A029-CC4A-4558-E1289223C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Core fundamentals of NestJS</a:t>
            </a:r>
          </a:p>
        </p:txBody>
      </p:sp>
    </p:spTree>
    <p:extLst>
      <p:ext uri="{BB962C8B-B14F-4D97-AF65-F5344CB8AC3E}">
        <p14:creationId xmlns:p14="http://schemas.microsoft.com/office/powerpoint/2010/main" val="45961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ED08-DB45-7544-8983-48CBE12B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E448E7-EC26-7922-DB26-9EF08FB5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</a:t>
            </a:r>
          </a:p>
        </p:txBody>
      </p:sp>
      <p:graphicFrame>
        <p:nvGraphicFramePr>
          <p:cNvPr id="3" name="Content Placeholder 2" hidden="1">
            <a:extLst>
              <a:ext uri="{FF2B5EF4-FFF2-40B4-BE49-F238E27FC236}">
                <a16:creationId xmlns:a16="http://schemas.microsoft.com/office/drawing/2014/main" id="{798C1603-06D5-9866-0608-6F7AE5F01F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630889"/>
              </p:ext>
            </p:extLst>
          </p:nvPr>
        </p:nvGraphicFramePr>
        <p:xfrm>
          <a:off x="838199" y="1690688"/>
          <a:ext cx="10515600" cy="423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57940">
                  <a:extLst>
                    <a:ext uri="{9D8B030D-6E8A-4147-A177-3AD203B41FA5}">
                      <a16:colId xmlns:a16="http://schemas.microsoft.com/office/drawing/2014/main" val="3888987123"/>
                    </a:ext>
                  </a:extLst>
                </a:gridCol>
                <a:gridCol w="7457660">
                  <a:extLst>
                    <a:ext uri="{9D8B030D-6E8A-4147-A177-3AD203B41FA5}">
                      <a16:colId xmlns:a16="http://schemas.microsoft.com/office/drawing/2014/main" val="1634622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File name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Description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92560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main.ts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The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</a:rPr>
                        <a:t>entry file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en-US" b="1" dirty="0">
                          <a:effectLst/>
                        </a:rPr>
                        <a:t>of the application which uses the core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function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effectLst/>
                        </a:rPr>
                        <a:t> NestFactory</a:t>
                      </a:r>
                      <a:r>
                        <a:rPr lang="en-US" b="1" dirty="0">
                          <a:effectLst/>
                        </a:rPr>
                        <a:t> to </a:t>
                      </a:r>
                      <a:r>
                        <a:rPr lang="en-US" b="1" dirty="0">
                          <a:solidFill>
                            <a:schemeClr val="accent3"/>
                          </a:solidFill>
                          <a:effectLst/>
                        </a:rPr>
                        <a:t>create a Nest application instance</a:t>
                      </a:r>
                      <a:r>
                        <a:rPr lang="en-US" b="1" dirty="0">
                          <a:effectLst/>
                        </a:rPr>
                        <a:t>.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65071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app.controller.ts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 basic controller with a single route.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57446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app.controller.spec.ts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The unit tests for the controller.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26197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app.service.ts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 basic service with a single method.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8941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app.module.ts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The root module of the application.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29516826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6880751-749B-F0FA-57B5-449B46850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226"/>
          <a:stretch/>
        </p:blipFill>
        <p:spPr>
          <a:xfrm>
            <a:off x="838198" y="1690688"/>
            <a:ext cx="10515600" cy="1608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4C578D-EB8D-EF82-9989-A326629AC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728"/>
          <a:stretch/>
        </p:blipFill>
        <p:spPr>
          <a:xfrm>
            <a:off x="838198" y="1690688"/>
            <a:ext cx="10515600" cy="2267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7365F-34B8-2B1F-93CB-04814713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31089"/>
          <a:stretch/>
        </p:blipFill>
        <p:spPr>
          <a:xfrm>
            <a:off x="838197" y="1690687"/>
            <a:ext cx="10515600" cy="2933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6CB0C9-3BAC-DC6E-8BD6-9B0B0B5AB6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6005"/>
          <a:stretch/>
        </p:blipFill>
        <p:spPr>
          <a:xfrm>
            <a:off x="838197" y="1690686"/>
            <a:ext cx="10515600" cy="3575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342B8-CB1F-6463-6BCC-08078CAC86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80"/>
          <a:stretch/>
        </p:blipFill>
        <p:spPr>
          <a:xfrm>
            <a:off x="838197" y="1690685"/>
            <a:ext cx="10515600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6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53CA-962A-D93B-7DCE-CFA93112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0B1E1-8D42-D8FD-162D-10ACFFEB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Entry 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3EBC0-6B13-EE5F-58E9-725ABD54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690688"/>
            <a:ext cx="10515600" cy="42367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E94866-DEE3-337D-8DD2-3EC4ACF385D2}"/>
              </a:ext>
            </a:extLst>
          </p:cNvPr>
          <p:cNvSpPr/>
          <p:nvPr/>
        </p:nvSpPr>
        <p:spPr>
          <a:xfrm>
            <a:off x="6308203" y="4259484"/>
            <a:ext cx="1296364" cy="370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9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6A28-8245-83FC-FB6B-313E04C4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520AB2-11E5-1426-3E96-2637232AA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the application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6879D5F-7F03-007D-3DCC-57EB9BDEE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519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B017-723B-A4B3-8F63-4C148342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8DB25-8376-E5EA-3077-79265A6C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D0225D-2025-12F6-7D61-6D37BF0E3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20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Basic Application Start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npm run start</a:t>
            </a:r>
          </a:p>
          <a:p>
            <a:pPr lvl="2"/>
            <a:r>
              <a:rPr lang="en-US" dirty="0"/>
              <a:t>Compiles your NestJS project.</a:t>
            </a:r>
          </a:p>
          <a:p>
            <a:pPr lvl="2"/>
            <a:r>
              <a:rPr lang="en-US" dirty="0"/>
              <a:t>Starts an HTTP server (usually on port 3000).</a:t>
            </a:r>
          </a:p>
          <a:p>
            <a:r>
              <a:rPr lang="en-US" dirty="0"/>
              <a:t>Fast Build with SWC Compiler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npm run start -- -b swc</a:t>
            </a:r>
          </a:p>
          <a:p>
            <a:pPr lvl="1"/>
            <a:r>
              <a:rPr lang="en-US" dirty="0"/>
              <a:t>Builds and starts the application using SWC (a super-fast JavaScript/TypeScript compiler).</a:t>
            </a:r>
          </a:p>
          <a:p>
            <a:pPr lvl="1"/>
            <a:r>
              <a:rPr lang="en-US" dirty="0"/>
              <a:t>Offers up to 20x faster builds compared to the default TypeScript compiler.</a:t>
            </a:r>
          </a:p>
          <a:p>
            <a:r>
              <a:rPr lang="en-US" dirty="0"/>
              <a:t>Development Mode (with Hot Reloading)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npm run start:dev</a:t>
            </a:r>
          </a:p>
          <a:p>
            <a:pPr lvl="1"/>
            <a:r>
              <a:rPr lang="en-US" dirty="0"/>
              <a:t>Watches your source files (src/ directory).</a:t>
            </a:r>
          </a:p>
          <a:p>
            <a:pPr lvl="1"/>
            <a:r>
              <a:rPr lang="en-US" dirty="0"/>
              <a:t>Recompiles the project automatically on file changes.</a:t>
            </a:r>
          </a:p>
          <a:p>
            <a:pPr lvl="1"/>
            <a:r>
              <a:rPr lang="en-US" dirty="0"/>
              <a:t>No need to stop and restart the server after every code change.</a:t>
            </a:r>
          </a:p>
        </p:txBody>
      </p:sp>
    </p:spTree>
    <p:extLst>
      <p:ext uri="{BB962C8B-B14F-4D97-AF65-F5344CB8AC3E}">
        <p14:creationId xmlns:p14="http://schemas.microsoft.com/office/powerpoint/2010/main" val="87603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1C2F-6D12-D323-44B7-0A787892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6D6BAD-8351-635A-9C90-C6F8670D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application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8B9F59F-9BD0-DC97-76EC-494A26788F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246702"/>
              </p:ext>
            </p:extLst>
          </p:nvPr>
        </p:nvGraphicFramePr>
        <p:xfrm>
          <a:off x="838199" y="1690688"/>
          <a:ext cx="10515600" cy="423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57940">
                  <a:extLst>
                    <a:ext uri="{9D8B030D-6E8A-4147-A177-3AD203B41FA5}">
                      <a16:colId xmlns:a16="http://schemas.microsoft.com/office/drawing/2014/main" val="3888987123"/>
                    </a:ext>
                  </a:extLst>
                </a:gridCol>
                <a:gridCol w="7457660">
                  <a:extLst>
                    <a:ext uri="{9D8B030D-6E8A-4147-A177-3AD203B41FA5}">
                      <a16:colId xmlns:a16="http://schemas.microsoft.com/office/drawing/2014/main" val="1634622256"/>
                    </a:ext>
                  </a:extLst>
                </a:gridCol>
              </a:tblGrid>
              <a:tr h="105930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Command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/>
                        <a:t>Purpose</a:t>
                      </a:r>
                      <a:endParaRPr lang="en-US" b="1" dirty="0">
                        <a:effectLst/>
                      </a:endParaRP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925600285"/>
                  </a:ext>
                </a:extLst>
              </a:tr>
              <a:tr h="105930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npm run start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Starts the app (default port: 3000)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650717860"/>
                  </a:ext>
                </a:extLst>
              </a:tr>
              <a:tr h="105930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npm run start -- -b swc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Faster startup using SWC compiler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574464681"/>
                  </a:ext>
                </a:extLst>
              </a:tr>
              <a:tr h="105930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npm run start:dev</a:t>
                      </a:r>
                    </a:p>
                  </a:txBody>
                  <a:tcPr marL="285750" marR="285750" marT="190500" marB="1905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effectLst/>
                        </a:rPr>
                        <a:t>Dev mode with hot-reloading on file changes</a:t>
                      </a:r>
                    </a:p>
                  </a:txBody>
                  <a:tcPr marL="285750" marR="285750" marT="190500" marB="190500" anchor="ctr"/>
                </a:tc>
                <a:extLst>
                  <a:ext uri="{0D108BD9-81ED-4DB2-BD59-A6C34878D82A}">
                    <a16:rowId xmlns:a16="http://schemas.microsoft.com/office/drawing/2014/main" val="1261972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24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95A2-645C-FDF1-FE03-2C97672B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03BED4-BBB9-4A3D-976A-509426CE1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3EA333-0AF4-9A77-87F4-80AEA9C7B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80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5AA3F-4AAC-0832-A051-ADCB24F0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809BC0-7BFA-3A7E-275B-922677BD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C0E5BC-C325-DAC8-0003-C9CB5023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5FB23DA-397E-A225-853B-393913F0F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1" t="10216" r="15459" b="10778"/>
          <a:stretch/>
        </p:blipFill>
        <p:spPr bwMode="auto">
          <a:xfrm>
            <a:off x="1035050" y="1481936"/>
            <a:ext cx="10121900" cy="503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389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3067-D8BB-4D73-8032-CFF14685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954AB9-AFA6-B475-2500-6D2849D3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Controller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FE33E3-1A72-E3E0-8366-46EFD6198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classes</a:t>
            </a:r>
            <a:r>
              <a:rPr lang="en-US" dirty="0"/>
              <a:t> and </a:t>
            </a:r>
            <a:r>
              <a:rPr lang="en-US" b="1" dirty="0"/>
              <a:t>decorators</a:t>
            </a:r>
            <a:r>
              <a:rPr lang="en-US" dirty="0"/>
              <a:t> to define controllers.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@Controller('route')</a:t>
            </a:r>
            <a:r>
              <a:rPr lang="en-US" dirty="0"/>
              <a:t> sets a </a:t>
            </a:r>
            <a:r>
              <a:rPr lang="en-US" dirty="0">
                <a:solidFill>
                  <a:schemeClr val="accent5"/>
                </a:solidFill>
              </a:rPr>
              <a:t>route prefix</a:t>
            </a:r>
            <a:r>
              <a:rPr lang="en-US" dirty="0"/>
              <a:t> (e.g., 'cats’).</a:t>
            </a:r>
          </a:p>
          <a:p>
            <a:r>
              <a:rPr lang="en-US" dirty="0"/>
              <a:t>Use the CLI to generate a controller: 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 nest g controller [name-s]</a:t>
            </a:r>
          </a:p>
          <a:p>
            <a:endParaRPr lang="en-US" dirty="0"/>
          </a:p>
          <a:p>
            <a:r>
              <a:rPr lang="en-US" b="1" u="sng" dirty="0"/>
              <a:t>Routing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@Get()</a:t>
            </a:r>
            <a:r>
              <a:rPr lang="en-US" dirty="0"/>
              <a:t> creates a GET endpoint handler.</a:t>
            </a:r>
          </a:p>
          <a:p>
            <a:r>
              <a:rPr lang="en-US" dirty="0"/>
              <a:t>Route path = </a:t>
            </a:r>
            <a:r>
              <a:rPr lang="en-US" dirty="0">
                <a:solidFill>
                  <a:schemeClr val="accent5"/>
                </a:solidFill>
              </a:rPr>
              <a:t>Controller prefix</a:t>
            </a:r>
            <a:r>
              <a:rPr lang="en-US" dirty="0"/>
              <a:t> + method path.</a:t>
            </a:r>
          </a:p>
          <a:p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@Controller('cats')</a:t>
            </a:r>
            <a:r>
              <a:rPr lang="en-US" dirty="0"/>
              <a:t> +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@Get('breed')</a:t>
            </a:r>
            <a:r>
              <a:rPr lang="en-US" dirty="0"/>
              <a:t> →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GET</a:t>
            </a:r>
            <a:r>
              <a:rPr lang="en-US" dirty="0"/>
              <a:t> </a:t>
            </a:r>
            <a:r>
              <a:rPr lang="en-US" b="1" dirty="0"/>
              <a:t>/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cats</a:t>
            </a:r>
            <a:r>
              <a:rPr lang="en-US" b="1" dirty="0"/>
              <a:t>/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breed</a:t>
            </a:r>
          </a:p>
        </p:txBody>
      </p:sp>
    </p:spTree>
    <p:extLst>
      <p:ext uri="{BB962C8B-B14F-4D97-AF65-F5344CB8AC3E}">
        <p14:creationId xmlns:p14="http://schemas.microsoft.com/office/powerpoint/2010/main" val="42948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5776-E55A-CF95-69C4-E80F1E26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decorator?</a:t>
            </a:r>
          </a:p>
        </p:txBody>
      </p:sp>
      <p:pic>
        <p:nvPicPr>
          <p:cNvPr id="6" name="Picture 2" descr="NestJSでよく見る@Decoratorって何なのかわからなかったからサクッと試してみた - ハイパーマッスルエンジニア">
            <a:extLst>
              <a:ext uri="{FF2B5EF4-FFF2-40B4-BE49-F238E27FC236}">
                <a16:creationId xmlns:a16="http://schemas.microsoft.com/office/drawing/2014/main" id="{695C4900-DCA0-E9D3-29B1-D9FAB0E6C0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2" t="25062" r="23232" b="34466"/>
          <a:stretch/>
        </p:blipFill>
        <p:spPr bwMode="auto">
          <a:xfrm>
            <a:off x="745120" y="1690688"/>
            <a:ext cx="10701759" cy="443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54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666B-9A0F-505D-A894-450672AF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NestJSでよく見る@Decoratorって何なのかわからなかったからサクッと試してみた - ハイパーマッスルエンジニア">
            <a:extLst>
              <a:ext uri="{FF2B5EF4-FFF2-40B4-BE49-F238E27FC236}">
                <a16:creationId xmlns:a16="http://schemas.microsoft.com/office/drawing/2014/main" id="{42546669-57F9-34F3-58F8-F25FD01DC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2" t="25062" r="23232" b="34466"/>
          <a:stretch/>
        </p:blipFill>
        <p:spPr bwMode="auto">
          <a:xfrm>
            <a:off x="6104199" y="4332875"/>
            <a:ext cx="6087801" cy="252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A4480-6C5A-44C3-361D-D38D8E8D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decorator?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5BD37-3253-70E3-437A-1E932658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Decorator is a concept that related with </a:t>
            </a:r>
            <a:r>
              <a:rPr lang="en-US" b="1" dirty="0"/>
              <a:t>Decorator pattern</a:t>
            </a:r>
            <a:r>
              <a:rPr lang="en-US" dirty="0"/>
              <a:t> which is a </a:t>
            </a:r>
            <a:r>
              <a:rPr lang="en-US" b="1" dirty="0"/>
              <a:t>design pattern in object-oriented programming</a:t>
            </a:r>
            <a:r>
              <a:rPr lang="en-US" dirty="0"/>
              <a:t>.</a:t>
            </a:r>
          </a:p>
          <a:p>
            <a:r>
              <a:rPr lang="en-US" dirty="0"/>
              <a:t>Decorators are </a:t>
            </a:r>
            <a:r>
              <a:rPr lang="en-US" b="1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that let you </a:t>
            </a:r>
            <a:r>
              <a:rPr lang="en-US" b="1" dirty="0">
                <a:solidFill>
                  <a:schemeClr val="accent6"/>
                </a:solidFill>
              </a:rPr>
              <a:t>attach new behaviors to objects</a:t>
            </a:r>
            <a:r>
              <a:rPr lang="en-US" dirty="0"/>
              <a:t> by placing these objects inside a special wrapper.</a:t>
            </a:r>
          </a:p>
          <a:p>
            <a:r>
              <a:rPr lang="en-US" dirty="0"/>
              <a:t>TypeScript supports using decorators.</a:t>
            </a:r>
          </a:p>
          <a:p>
            <a:r>
              <a:rPr lang="en-US" dirty="0"/>
              <a:t>Property Decorators (</a:t>
            </a:r>
            <a:r>
              <a:rPr lang="en-US" b="1" dirty="0"/>
              <a:t>@Inject()</a:t>
            </a:r>
            <a:r>
              <a:rPr lang="en-US" dirty="0"/>
              <a:t>)</a:t>
            </a:r>
          </a:p>
          <a:p>
            <a:r>
              <a:rPr lang="en-US" dirty="0"/>
              <a:t>Method Decorators (</a:t>
            </a:r>
            <a:r>
              <a:rPr lang="en-US" b="1" dirty="0"/>
              <a:t>@Get()</a:t>
            </a:r>
            <a:r>
              <a:rPr lang="en-US" dirty="0"/>
              <a:t>)</a:t>
            </a:r>
          </a:p>
          <a:p>
            <a:r>
              <a:rPr lang="en-US" dirty="0"/>
              <a:t>Parameter Decorators (</a:t>
            </a:r>
            <a:r>
              <a:rPr lang="en-US" b="1" dirty="0"/>
              <a:t>@Param(), @Body()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Class Decorators (</a:t>
            </a:r>
            <a:r>
              <a:rPr lang="en-US" b="1" dirty="0"/>
              <a:t>@Controller(), @Injectable()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0898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5CD4-0162-6F0F-FF61-2DBFBFEB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433228-3265-899D-5A87-AA69D702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Handling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436A58-4BCE-9125-DED7-4594C7E91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Standard Response (</a:t>
            </a:r>
            <a:r>
              <a:rPr lang="en-US" b="1" u="sng" dirty="0">
                <a:solidFill>
                  <a:schemeClr val="accent6"/>
                </a:solidFill>
              </a:rPr>
              <a:t>Recommended</a:t>
            </a:r>
            <a:r>
              <a:rPr lang="en-US" b="1" u="sng" dirty="0"/>
              <a:t>)</a:t>
            </a:r>
          </a:p>
          <a:p>
            <a:pPr lvl="1"/>
            <a:r>
              <a:rPr lang="en-US" dirty="0"/>
              <a:t>Automatically serializes objects/arrays to JSON. (using </a:t>
            </a:r>
            <a:r>
              <a:rPr lang="en-US" b="1" dirty="0"/>
              <a:t>return </a:t>
            </a:r>
            <a:r>
              <a:rPr lang="en-US" dirty="0"/>
              <a:t>statement)</a:t>
            </a:r>
          </a:p>
          <a:p>
            <a:pPr lvl="1"/>
            <a:r>
              <a:rPr lang="en-US" dirty="0"/>
              <a:t>Returns primitive types (string, number) as-is.</a:t>
            </a:r>
          </a:p>
          <a:p>
            <a:pPr lvl="1"/>
            <a:r>
              <a:rPr lang="en-US" u="sng" dirty="0"/>
              <a:t>Default status codes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200 for general requests.</a:t>
            </a:r>
          </a:p>
          <a:p>
            <a:pPr lvl="2"/>
            <a:r>
              <a:rPr lang="en-US" dirty="0"/>
              <a:t>201 for POST requests.</a:t>
            </a:r>
          </a:p>
          <a:p>
            <a:pPr lvl="2"/>
            <a:r>
              <a:rPr lang="en-US" dirty="0"/>
              <a:t>Change status code using @HttpCode(...) </a:t>
            </a:r>
            <a:r>
              <a:rPr lang="en-US" b="1" u="sng" dirty="0"/>
              <a:t>or</a:t>
            </a:r>
            <a:r>
              <a:rPr lang="en-US" dirty="0"/>
              <a:t> Exceptions</a:t>
            </a:r>
          </a:p>
          <a:p>
            <a:r>
              <a:rPr lang="en-US" b="1" u="sng" dirty="0"/>
              <a:t>Library-Specific Response (e.g., Express)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@Res()</a:t>
            </a:r>
            <a:r>
              <a:rPr lang="en-US" dirty="0"/>
              <a:t> decorator in the handler’s signature to inject response object.</a:t>
            </a:r>
          </a:p>
          <a:p>
            <a:pPr lvl="1"/>
            <a:r>
              <a:rPr lang="en-US" dirty="0"/>
              <a:t>Disables standard response handling for that route.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@Res({ passthrough: true })</a:t>
            </a:r>
            <a:r>
              <a:rPr lang="en-US" dirty="0"/>
              <a:t> to combine both approaches.</a:t>
            </a:r>
          </a:p>
          <a:p>
            <a:pPr lvl="2"/>
            <a:r>
              <a:rPr lang="en-US" dirty="0"/>
              <a:t>to set headers/cookies but keep Nest in control of the response.</a:t>
            </a:r>
          </a:p>
        </p:txBody>
      </p:sp>
    </p:spTree>
    <p:extLst>
      <p:ext uri="{BB962C8B-B14F-4D97-AF65-F5344CB8AC3E}">
        <p14:creationId xmlns:p14="http://schemas.microsoft.com/office/powerpoint/2010/main" val="279038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3317-AEB3-755C-5761-84622E6C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B33940-3315-3083-A9B7-8EA40E80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Handling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B9116-5DDF-2B09-0514-4BB31F62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Library-Specific Response (e.g., Express)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@Res()</a:t>
            </a:r>
            <a:r>
              <a:rPr lang="en-US" dirty="0"/>
              <a:t> decorator in the handler’s signature to inject response object.</a:t>
            </a:r>
          </a:p>
          <a:p>
            <a:pPr lvl="1"/>
            <a:r>
              <a:rPr lang="en-US" dirty="0"/>
              <a:t>Disables standard response handling for that route.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@Res({ passthrough: true })</a:t>
            </a:r>
            <a:r>
              <a:rPr lang="en-US" dirty="0"/>
              <a:t> to combine both approaches.</a:t>
            </a:r>
          </a:p>
          <a:p>
            <a:pPr lvl="2"/>
            <a:r>
              <a:rPr lang="en-US" dirty="0"/>
              <a:t>to set headers/cookies but keep Nest in control of the response.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B7D04-94F6-A70F-9D75-7E25B0BB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622" y="4410684"/>
            <a:ext cx="5487906" cy="1901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795168-EC29-00E4-1297-3C3FA9BD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472" y="3854912"/>
            <a:ext cx="3143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A834-52C8-8417-298D-1BD27470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989701-76DA-F487-9A84-4EAA4003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Request Object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57B1A-A3B7-7840-B023-CCF590338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Standard NestJS Decorators (</a:t>
            </a:r>
            <a:r>
              <a:rPr lang="en-US" b="1" u="sng" dirty="0">
                <a:solidFill>
                  <a:schemeClr val="accent6"/>
                </a:solidFill>
              </a:rPr>
              <a:t>Recommended</a:t>
            </a:r>
            <a:r>
              <a:rPr lang="en-US" b="1" u="sng" dirty="0"/>
              <a:t>)</a:t>
            </a:r>
          </a:p>
          <a:p>
            <a:pPr lvl="1"/>
            <a:r>
              <a:rPr lang="en-US" dirty="0"/>
              <a:t>Use built-in decorators for platform-agnostic access to request details.</a:t>
            </a:r>
          </a:p>
          <a:p>
            <a:pPr lvl="1"/>
            <a:r>
              <a:rPr lang="en-US" dirty="0"/>
              <a:t>@Param() → Route parameters (</a:t>
            </a:r>
            <a:r>
              <a:rPr lang="en-US" dirty="0" err="1"/>
              <a:t>req.params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@Query() → Query strings (</a:t>
            </a:r>
            <a:r>
              <a:rPr lang="en-US" dirty="0" err="1"/>
              <a:t>req.query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@Body() → Request body (</a:t>
            </a:r>
            <a:r>
              <a:rPr lang="en-US" dirty="0" err="1"/>
              <a:t>req.body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@Headers() → HTTP headers (</a:t>
            </a:r>
            <a:r>
              <a:rPr lang="en-US" dirty="0" err="1"/>
              <a:t>req.headers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@Ip() → Client IP address</a:t>
            </a:r>
          </a:p>
          <a:p>
            <a:r>
              <a:rPr lang="en-US" b="1" u="sng" dirty="0"/>
              <a:t>Library-Specific Request (e.g., Express)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@Req()</a:t>
            </a:r>
            <a:r>
              <a:rPr lang="en-US" dirty="0"/>
              <a:t> to inject the native request object (e.g., Express.Request).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9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38FC9-7BE3-F90A-9358-49E9B20A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A3BE5-519E-047E-121D-FFD4B63D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Request Object in NestJS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A8E63-7266-B904-3128-22CDA54C3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1608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49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8458-CFB6-B688-7F1A-1750AB86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F05E81-6803-7034-6AC2-6405B0B1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parameters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22519-3D93-CBDD-0E3D-9AAFFE72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Routes with parameters should be defined </a:t>
            </a:r>
            <a:r>
              <a:rPr lang="en-US" b="1" dirty="0"/>
              <a:t>after static routes</a:t>
            </a:r>
            <a:r>
              <a:rPr lang="en-US" dirty="0"/>
              <a:t> to avoid conflicts.</a:t>
            </a:r>
          </a:p>
          <a:p>
            <a:r>
              <a:rPr lang="en-US" dirty="0"/>
              <a:t>If you define the dynamic :id route first, a request to /profile could mistakenly match it.</a:t>
            </a:r>
          </a:p>
          <a:p>
            <a:r>
              <a:rPr lang="en-US" b="1" dirty="0"/>
              <a:t>NestJS will interpret </a:t>
            </a:r>
            <a:r>
              <a:rPr lang="en-US" b="1" dirty="0">
                <a:solidFill>
                  <a:srgbClr val="FF0000"/>
                </a:solidFill>
              </a:rPr>
              <a:t>"profile" </a:t>
            </a:r>
            <a:r>
              <a:rPr lang="en-US" b="1" dirty="0"/>
              <a:t>as the </a:t>
            </a:r>
            <a:r>
              <a:rPr lang="en-US" b="1" dirty="0">
                <a:solidFill>
                  <a:srgbClr val="FF0000"/>
                </a:solidFill>
              </a:rPr>
              <a:t>:id</a:t>
            </a:r>
            <a:r>
              <a:rPr lang="en-US" b="1" dirty="0"/>
              <a:t>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71F47-4AFB-8DBE-6A93-8BE9B8495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4186792"/>
            <a:ext cx="7734300" cy="25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3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73F6-784A-76C1-CDF8-89B44E10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324F6E-2C77-9DDB-0BFB-E3A12A5F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Payloads with </a:t>
            </a:r>
            <a:r>
              <a:rPr lang="en-US" b="1" dirty="0"/>
              <a:t>@Body()</a:t>
            </a:r>
            <a:r>
              <a:rPr lang="en-US" dirty="0"/>
              <a:t>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D5C7B8-D423-3637-61E4-6D4EA9C0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What is a DTO?</a:t>
            </a:r>
          </a:p>
          <a:p>
            <a:pPr lvl="1"/>
            <a:r>
              <a:rPr lang="en-US" b="1" dirty="0"/>
              <a:t>DTO</a:t>
            </a:r>
            <a:r>
              <a:rPr lang="en-US" dirty="0"/>
              <a:t> stands for </a:t>
            </a:r>
            <a:r>
              <a:rPr lang="en-US" b="1" dirty="0"/>
              <a:t>Data Transfer Object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defines the </a:t>
            </a:r>
            <a:r>
              <a:rPr lang="en-US" b="1" dirty="0">
                <a:solidFill>
                  <a:schemeClr val="accent6"/>
                </a:solidFill>
              </a:rPr>
              <a:t>structure of the expected request payload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Think of it as the shape of the data coming from the client.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CC4A9-4BF6-1AAA-A3F2-CC3EFEAD7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612" y="3519963"/>
            <a:ext cx="3914775" cy="322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2DAB-88B2-BFAA-B025-0055747F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CDC434-EFE4-51BE-CF57-3737242D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Payloads with </a:t>
            </a:r>
            <a:r>
              <a:rPr lang="en-US" b="1" dirty="0"/>
              <a:t>@Body()</a:t>
            </a:r>
            <a:r>
              <a:rPr lang="en-US" dirty="0"/>
              <a:t>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3B3B56-B58C-A0EA-A334-38EB30F3F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What is a DTO?</a:t>
            </a:r>
          </a:p>
          <a:p>
            <a:pPr lvl="1"/>
            <a:r>
              <a:rPr lang="en-US" b="1" dirty="0"/>
              <a:t>DTO</a:t>
            </a:r>
            <a:r>
              <a:rPr lang="en-US" dirty="0"/>
              <a:t> stands for </a:t>
            </a:r>
            <a:r>
              <a:rPr lang="en-US" b="1" dirty="0"/>
              <a:t>Data Transfer Object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defines the </a:t>
            </a:r>
            <a:r>
              <a:rPr lang="en-US" b="1" dirty="0">
                <a:solidFill>
                  <a:schemeClr val="accent6"/>
                </a:solidFill>
              </a:rPr>
              <a:t>structure of the expected request payload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Think of it as the shape of the data coming from the client.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E1E27-08F7-B915-6FE2-AD5BADB2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001294"/>
            <a:ext cx="2527300" cy="2080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52ADE3-F3FB-86FA-C374-572EB228C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843" y="3519962"/>
            <a:ext cx="7722957" cy="322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23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D76F9-C40A-B807-4A72-E1985D59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A465C6-E1BD-D479-BBDD-F27F9BF1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Payloads with </a:t>
            </a:r>
            <a:r>
              <a:rPr lang="en-US" b="1" dirty="0"/>
              <a:t>@Body()</a:t>
            </a:r>
            <a:r>
              <a:rPr lang="en-US" dirty="0"/>
              <a:t> in NestJS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D1AEB9-FED5-2291-54E3-6AAC9B65F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Why use </a:t>
            </a:r>
            <a:r>
              <a:rPr lang="en-US" b="1" u="sng" dirty="0">
                <a:solidFill>
                  <a:schemeClr val="accent6"/>
                </a:solidFill>
              </a:rPr>
              <a:t>classes</a:t>
            </a:r>
            <a:r>
              <a:rPr lang="en-US" b="1" u="sng" dirty="0"/>
              <a:t> instead of </a:t>
            </a:r>
            <a:r>
              <a:rPr lang="en-US" b="1" u="sng" dirty="0">
                <a:solidFill>
                  <a:srgbClr val="FF0000"/>
                </a:solidFill>
              </a:rPr>
              <a:t>interfaces</a:t>
            </a:r>
            <a:r>
              <a:rPr lang="en-US" b="1" u="sng" dirty="0"/>
              <a:t>?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Classes are part of the JavaScript ES6 standard</a:t>
            </a:r>
            <a:r>
              <a:rPr lang="en-US" dirty="0"/>
              <a:t>, so they remain intact as real entities in the compiled JavaScript.</a:t>
            </a:r>
          </a:p>
          <a:p>
            <a:pPr lvl="1"/>
            <a:r>
              <a:rPr lang="en-US" dirty="0"/>
              <a:t>In contrast, TypeScript interfaces are removed during transpilation, meaning </a:t>
            </a:r>
            <a:r>
              <a:rPr lang="en-US" b="1" dirty="0">
                <a:solidFill>
                  <a:srgbClr val="FF0000"/>
                </a:solidFill>
              </a:rPr>
              <a:t>Nest can't reference them at runtime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This is important because features like </a:t>
            </a:r>
            <a:r>
              <a:rPr lang="en-US" b="1" dirty="0"/>
              <a:t>Pipes</a:t>
            </a:r>
            <a:r>
              <a:rPr lang="en-US" dirty="0"/>
              <a:t> rely on having access to the metatype of variables at runtime, which is only possible with classes.</a:t>
            </a:r>
          </a:p>
        </p:txBody>
      </p:sp>
    </p:spTree>
    <p:extLst>
      <p:ext uri="{BB962C8B-B14F-4D97-AF65-F5344CB8AC3E}">
        <p14:creationId xmlns:p14="http://schemas.microsoft.com/office/powerpoint/2010/main" val="87227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1484-352A-FA86-21C5-DED347F32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2DAAE4-8889-1FAE-25D0-8CD2AF611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the Controller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BDBF4A-4206-F91B-3CED-5D759358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Controllers must be declared inside a module.</a:t>
            </a:r>
          </a:p>
          <a:p>
            <a:r>
              <a:rPr lang="en-US" b="1" u="sng" dirty="0"/>
              <a:t>Why This Step is Required</a:t>
            </a:r>
          </a:p>
          <a:p>
            <a:pPr lvl="1"/>
            <a:r>
              <a:rPr lang="en-US" dirty="0"/>
              <a:t>NestJS is built around the concept of modules</a:t>
            </a:r>
            <a:br>
              <a:rPr lang="en-US" dirty="0"/>
            </a:br>
            <a:r>
              <a:rPr lang="en-US" dirty="0"/>
              <a:t>[blocks that help </a:t>
            </a:r>
            <a:r>
              <a:rPr lang="en-US" b="1" dirty="0"/>
              <a:t>organize code</a:t>
            </a:r>
            <a:r>
              <a:rPr lang="en-US" dirty="0"/>
              <a:t> and </a:t>
            </a:r>
            <a:r>
              <a:rPr lang="en-US" b="1" dirty="0"/>
              <a:t>manage dependency injection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so that the </a:t>
            </a:r>
            <a:r>
              <a:rPr lang="en-US" b="1" dirty="0"/>
              <a:t>Nest runtime</a:t>
            </a:r>
            <a:r>
              <a:rPr lang="en-US" dirty="0"/>
              <a:t> can:</a:t>
            </a:r>
          </a:p>
          <a:p>
            <a:pPr lvl="2"/>
            <a:r>
              <a:rPr lang="en-US" dirty="0"/>
              <a:t>Discover and instantiate the controller</a:t>
            </a:r>
          </a:p>
          <a:p>
            <a:pPr lvl="2"/>
            <a:r>
              <a:rPr lang="en-US" dirty="0"/>
              <a:t>Bind it to the HTTP routing system</a:t>
            </a:r>
          </a:p>
          <a:p>
            <a:pPr lvl="2"/>
            <a:r>
              <a:rPr lang="en-US" dirty="0"/>
              <a:t>And inject any required dependencies via the module system</a:t>
            </a:r>
          </a:p>
        </p:txBody>
      </p:sp>
    </p:spTree>
    <p:extLst>
      <p:ext uri="{BB962C8B-B14F-4D97-AF65-F5344CB8AC3E}">
        <p14:creationId xmlns:p14="http://schemas.microsoft.com/office/powerpoint/2010/main" val="273006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BA5AE0D5-0995-1262-CBEE-735355B80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0"/>
            <a:ext cx="11118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001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A5DF-247B-6D58-7B92-334E9DA9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71205-3794-1E3C-12F9-A45EC5461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B86B8A9-2BCC-4914-D709-5C2B124D3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1117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E85B-B974-4AD1-C902-1D2B4A9B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47B800-11BB-C405-C3BE-587D9323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pic>
        <p:nvPicPr>
          <p:cNvPr id="15362" name="Picture 2" descr="A quick intro to Dependency Injection: what it is, and when to use it">
            <a:extLst>
              <a:ext uri="{FF2B5EF4-FFF2-40B4-BE49-F238E27FC236}">
                <a16:creationId xmlns:a16="http://schemas.microsoft.com/office/drawing/2014/main" id="{67BAFB92-719C-37A8-34FF-A155B70AF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1795462"/>
            <a:ext cx="6832600" cy="469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090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787B-A022-0795-586B-A55A0AC3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698392-2073-4BBE-7BC5-44F33BA6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pic>
        <p:nvPicPr>
          <p:cNvPr id="16386" name="Picture 2" descr="Dependency Injection">
            <a:extLst>
              <a:ext uri="{FF2B5EF4-FFF2-40B4-BE49-F238E27FC236}">
                <a16:creationId xmlns:a16="http://schemas.microsoft.com/office/drawing/2014/main" id="{B9D6A988-E4E9-C76B-394D-5374FC0BC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29522"/>
            <a:ext cx="9144000" cy="486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904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A38FB-30D6-C98F-283B-5ABC7375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8B4046C-121F-4750-B2C1-6628848F5F76}"/>
              </a:ext>
            </a:extLst>
          </p:cNvPr>
          <p:cNvGrpSpPr/>
          <p:nvPr/>
        </p:nvGrpSpPr>
        <p:grpSpPr>
          <a:xfrm>
            <a:off x="4102101" y="2707142"/>
            <a:ext cx="3923541" cy="2635076"/>
            <a:chOff x="4102101" y="2707142"/>
            <a:chExt cx="3923541" cy="263507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CE0C722-6CF1-AC5D-1F0A-85AE77CF7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2101" y="2707142"/>
              <a:ext cx="3923541" cy="263507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4AAA16B-B357-BC2A-1750-7B586CC8A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6697" y="4010760"/>
              <a:ext cx="2858603" cy="331785"/>
            </a:xfrm>
            <a:prstGeom prst="rect">
              <a:avLst/>
            </a:prstGeom>
          </p:spPr>
        </p:pic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2214EC8-EE05-96B5-D5E4-297B5138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CDB0E8-0C3E-63A2-2738-5B9AD2184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229" y="2321026"/>
            <a:ext cx="3923541" cy="483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519F8-B380-6895-99E4-25D8CCE8F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2321026"/>
            <a:ext cx="2858603" cy="772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E4F7D-6EDC-FE8F-77A3-C07D24564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9071" y="1986743"/>
            <a:ext cx="1829661" cy="3342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137125-FDB4-52F8-7B8B-11B1B71280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2262637"/>
            <a:ext cx="2857500" cy="8306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4E1E5C-C96D-3F06-6486-BE5A107B50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9901" y="3139106"/>
            <a:ext cx="2857500" cy="3316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999C66-762A-855F-955C-D4AB3D787C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9900" y="4919180"/>
            <a:ext cx="2858400" cy="8308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F67350-C0CF-5AE2-F9C6-B978327A60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1973" y="5776511"/>
            <a:ext cx="4633354" cy="28991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DC287CC-3781-9365-B325-0DB89F1544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9400" y="6046218"/>
            <a:ext cx="6096000" cy="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07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6ECA-363C-5F47-0247-2B0D2A71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DEDC00-0739-3691-5C75-A681564E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Scope (Injection Scopes)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1A76BF-34B1-2200-CE2A-34C311B89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21323"/>
              </p:ext>
            </p:extLst>
          </p:nvPr>
        </p:nvGraphicFramePr>
        <p:xfrm>
          <a:off x="838200" y="1690688"/>
          <a:ext cx="10515600" cy="44640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1795637405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1988086144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1260533890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2400" b="1" dirty="0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Lifetime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699034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r>
                        <a:rPr lang="en-US" sz="2400" b="1" dirty="0"/>
                        <a:t>DEFAULT</a:t>
                      </a:r>
                      <a:r>
                        <a:rPr lang="en-US" sz="2400" dirty="0"/>
                        <a:t> (Singleton)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 instance for the entire app 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Caching, DB connection, logging,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40813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r>
                        <a:rPr lang="en-US" sz="2400" b="1"/>
                        <a:t>REQUEST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New instance for each HTTP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Multi-tenancy, request tracking, per-request cache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34100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r>
                        <a:rPr lang="en-US" sz="2400" b="1"/>
                        <a:t>TRANSIENT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New instance for each injection (consumer)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Stateless services that hold no shared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269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56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24C21-15E8-4A1A-9D6B-A8975653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BF6F0-071E-9C23-0D88-BE95BD1E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Hierarchy in NestJS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EF6334-398B-D283-489D-8890D6964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Request Scope Affects All Parents</a:t>
            </a:r>
          </a:p>
          <a:p>
            <a:pPr lvl="1"/>
            <a:r>
              <a:rPr lang="en-US" dirty="0"/>
              <a:t>A controller or provider automatically becomes </a:t>
            </a:r>
            <a:r>
              <a:rPr lang="en-US" b="1" dirty="0"/>
              <a:t>request-scoped</a:t>
            </a:r>
            <a:r>
              <a:rPr lang="en-US" dirty="0"/>
              <a:t> if it depends on another provider that is </a:t>
            </a:r>
            <a:r>
              <a:rPr lang="en-US" b="1" dirty="0"/>
              <a:t>request-scoped</a:t>
            </a:r>
            <a:r>
              <a:rPr lang="en-US" dirty="0"/>
              <a:t>.</a:t>
            </a:r>
          </a:p>
          <a:p>
            <a:r>
              <a:rPr lang="en-US" b="1" u="sng" dirty="0"/>
              <a:t>Transient Scope Does Not Affect Parents</a:t>
            </a:r>
          </a:p>
          <a:p>
            <a:pPr lvl="1"/>
            <a:r>
              <a:rPr lang="en-US" dirty="0"/>
              <a:t>If a </a:t>
            </a:r>
            <a:r>
              <a:rPr lang="en-US" b="1" dirty="0"/>
              <a:t>singleton</a:t>
            </a:r>
            <a:r>
              <a:rPr lang="en-US" dirty="0"/>
              <a:t> service </a:t>
            </a:r>
            <a:r>
              <a:rPr lang="en-US" b="1" dirty="0"/>
              <a:t>injects</a:t>
            </a:r>
            <a:r>
              <a:rPr lang="en-US" dirty="0"/>
              <a:t> a </a:t>
            </a:r>
            <a:r>
              <a:rPr lang="en-US" b="1" dirty="0"/>
              <a:t>transient</a:t>
            </a:r>
            <a:r>
              <a:rPr lang="en-US" dirty="0"/>
              <a:t> provider, it receives a new instance, but the singleton remains singleton.</a:t>
            </a:r>
          </a:p>
          <a:p>
            <a:pPr lvl="1"/>
            <a:r>
              <a:rPr lang="en-US" dirty="0"/>
              <a:t>To make a dependent also transient, you must </a:t>
            </a:r>
            <a:r>
              <a:rPr lang="en-US" b="1" dirty="0"/>
              <a:t>explicitly mark it as TRANSIENT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13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6620-1AAD-1D3B-3298-B28C2AB2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129FA2-66E4-C1BA-F0A3-5E09F796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 Scope Best Practices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64B078-2D37-E797-91CF-FFA94137E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SINGLETON</a:t>
            </a:r>
            <a:r>
              <a:rPr lang="en-US" dirty="0"/>
              <a:t> by default for performance.</a:t>
            </a:r>
          </a:p>
          <a:p>
            <a:r>
              <a:rPr lang="en-US" dirty="0"/>
              <a:t>Use </a:t>
            </a:r>
            <a:r>
              <a:rPr lang="en-US" b="1" dirty="0"/>
              <a:t>REQUEST</a:t>
            </a:r>
            <a:r>
              <a:rPr lang="en-US" dirty="0"/>
              <a:t> scope only when needed.</a:t>
            </a:r>
          </a:p>
          <a:p>
            <a:r>
              <a:rPr lang="en-US" dirty="0"/>
              <a:t>Use </a:t>
            </a:r>
            <a:r>
              <a:rPr lang="en-US" b="1" dirty="0"/>
              <a:t>TRANSIENT</a:t>
            </a:r>
            <a:r>
              <a:rPr lang="en-US" dirty="0"/>
              <a:t> for lightweight, stateless services like utilities and formatters.</a:t>
            </a:r>
          </a:p>
          <a:p>
            <a:r>
              <a:rPr lang="en-US" b="1" u="sng" dirty="0"/>
              <a:t>Why Singleton Scope Is Recommended (Default)</a:t>
            </a:r>
          </a:p>
          <a:p>
            <a:pPr lvl="1"/>
            <a:r>
              <a:rPr lang="en-US" dirty="0"/>
              <a:t>Singleton scope is </a:t>
            </a:r>
            <a:r>
              <a:rPr lang="en-US" b="1" dirty="0"/>
              <a:t>highly performant.</a:t>
            </a:r>
          </a:p>
          <a:p>
            <a:pPr lvl="1"/>
            <a:r>
              <a:rPr lang="en-US" dirty="0"/>
              <a:t>NestJS </a:t>
            </a:r>
            <a:r>
              <a:rPr lang="en-US" b="1" dirty="0"/>
              <a:t>caches metadata</a:t>
            </a:r>
            <a:r>
              <a:rPr lang="en-US" dirty="0"/>
              <a:t> and only creates one instance per provider.</a:t>
            </a:r>
          </a:p>
          <a:p>
            <a:pPr lvl="1"/>
            <a:r>
              <a:rPr lang="en-US" dirty="0"/>
              <a:t>Most services (like LoggerService, DatabaseService) don't need to change per request.</a:t>
            </a:r>
          </a:p>
        </p:txBody>
      </p:sp>
    </p:spTree>
    <p:extLst>
      <p:ext uri="{BB962C8B-B14F-4D97-AF65-F5344CB8AC3E}">
        <p14:creationId xmlns:p14="http://schemas.microsoft.com/office/powerpoint/2010/main" val="1231122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NestJS] NestJS 로직 흐름 / Module, Controller, Service 자동 생성">
            <a:extLst>
              <a:ext uri="{FF2B5EF4-FFF2-40B4-BE49-F238E27FC236}">
                <a16:creationId xmlns:a16="http://schemas.microsoft.com/office/drawing/2014/main" id="{16734DD2-57E3-BC98-BA84-512A71351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197" y="643466"/>
            <a:ext cx="10817605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701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5B91-AEAB-A791-80F1-26A320A9E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F2752-2A7A-C417-A206-3E3F7E404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75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86D3-82C3-22CA-BED2-04FDCFC6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E39C0F2-64A9-10F7-5578-E9F85947D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8" t="11361" r="21737" b="12312"/>
          <a:stretch/>
        </p:blipFill>
        <p:spPr bwMode="auto">
          <a:xfrm>
            <a:off x="2303362" y="710363"/>
            <a:ext cx="7442522" cy="543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EA6BCD-A406-FA9D-2A5B-7463A2C2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3177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C2FC-5631-5120-5D26-BD0D7849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091E65-4850-49B7-6214-E6C022DC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83" b="548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69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6A72-3A8B-3BE2-844B-35BC9313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1638-E068-6754-03A1-BC64B64D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Modules in NestJS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004C-1F93-F544-96E1-E0F500812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 Singleton Design Pattern</a:t>
            </a:r>
          </a:p>
          <a:p>
            <a:pPr lvl="1"/>
            <a:r>
              <a:rPr lang="en-US" dirty="0"/>
              <a:t>Each module in NestJS is a singleton.</a:t>
            </a:r>
          </a:p>
          <a:p>
            <a:pPr lvl="1"/>
            <a:r>
              <a:rPr lang="en-US" dirty="0"/>
              <a:t>This means it is instantiated once during the application lifecycle.</a:t>
            </a:r>
          </a:p>
          <a:p>
            <a:pPr lvl="1"/>
            <a:r>
              <a:rPr lang="en-US" dirty="0"/>
              <a:t>All providers registered in the module also follow the singleton pattern by default.</a:t>
            </a:r>
            <a:endParaRPr lang="ar-EG" dirty="0"/>
          </a:p>
          <a:p>
            <a:pPr lvl="1"/>
            <a:r>
              <a:rPr lang="en-US" b="1" u="sng" dirty="0"/>
              <a:t>Exception</a:t>
            </a:r>
            <a:r>
              <a:rPr lang="en-US" dirty="0"/>
              <a:t>: If a provider is explicitly configured with a different scope (e.g., Scope.REQUEST or Scope.TRANSIENT), NestJS will create a new instance of that provider for each request or injection,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350761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0813-4303-BC68-43D6-248EC9221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1466-B1FB-C6DD-00B9-B23B2ED7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Modules in NestJS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195B4-CA54-6E7D-669B-CFE003AED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Encapsulation by Default</a:t>
            </a:r>
          </a:p>
          <a:p>
            <a:pPr lvl="1"/>
            <a:r>
              <a:rPr lang="en-US" dirty="0"/>
              <a:t>NestJS encapsulates providers inside the module by default.</a:t>
            </a:r>
          </a:p>
          <a:p>
            <a:pPr lvl="1"/>
            <a:r>
              <a:rPr lang="en-US" b="1" dirty="0"/>
              <a:t>This means providers are not visible</a:t>
            </a:r>
            <a:r>
              <a:rPr lang="en-US" dirty="0"/>
              <a:t> or injectable </a:t>
            </a:r>
            <a:r>
              <a:rPr lang="en-US" b="1" dirty="0"/>
              <a:t>outside</a:t>
            </a:r>
            <a:r>
              <a:rPr lang="en-US" dirty="0"/>
              <a:t> the module unless they are explicitly exported.</a:t>
            </a:r>
          </a:p>
        </p:txBody>
      </p:sp>
    </p:spTree>
    <p:extLst>
      <p:ext uri="{BB962C8B-B14F-4D97-AF65-F5344CB8AC3E}">
        <p14:creationId xmlns:p14="http://schemas.microsoft.com/office/powerpoint/2010/main" val="237486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CC28-260F-DAAE-73B7-74FE64EC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4DF1-C89C-E7E6-40D7-60D68376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Modules in NestJS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CB0C6-D9B2-7AD9-847A-7A88D37E0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Shared Module Behavior</a:t>
            </a:r>
          </a:p>
          <a:p>
            <a:pPr lvl="1"/>
            <a:r>
              <a:rPr lang="en-US" dirty="0"/>
              <a:t>Every module is automatically “Shared“.</a:t>
            </a:r>
          </a:p>
          <a:p>
            <a:pPr lvl="1"/>
            <a:r>
              <a:rPr lang="en-US" dirty="0"/>
              <a:t>Once a module is imported into another module,</a:t>
            </a:r>
            <a:br>
              <a:rPr lang="en-US" dirty="0"/>
            </a:br>
            <a:r>
              <a:rPr lang="en-US" dirty="0"/>
              <a:t>it becomes "shared" in the context of that module.</a:t>
            </a:r>
          </a:p>
          <a:p>
            <a:pPr lvl="1"/>
            <a:r>
              <a:rPr lang="en-US" dirty="0"/>
              <a:t>This allo</a:t>
            </a:r>
            <a:r>
              <a:rPr lang="en-US" b="1" dirty="0"/>
              <a:t>ws all exported providers from the shared module to be available in the importing module without redefining them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15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3C2F-1A9D-8389-B5BB-632BA027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5126-9195-8C33-418F-FBFB402D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Modules in NestJS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5ECA-9CD6-8AE7-0DCA-C53E4AA0C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Why Use Imports Instead of Direct Registration?</a:t>
            </a:r>
          </a:p>
          <a:p>
            <a:pPr lvl="1"/>
            <a:r>
              <a:rPr lang="en-US" dirty="0"/>
              <a:t>If a provider (e.g., CatsService) is directly registered in multiple modules, </a:t>
            </a:r>
            <a:r>
              <a:rPr lang="en-US" b="1" dirty="0"/>
              <a:t>each module will get its own instance</a:t>
            </a:r>
            <a:r>
              <a:rPr lang="en-US" dirty="0"/>
              <a:t>, breaking the singleton behavior.</a:t>
            </a:r>
          </a:p>
          <a:p>
            <a:pPr lvl="1"/>
            <a:r>
              <a:rPr lang="en-US" dirty="0"/>
              <a:t>Instead, you should import the module that defines the provider once, and Nest will ensure </a:t>
            </a:r>
            <a:r>
              <a:rPr lang="en-US" b="1" dirty="0"/>
              <a:t>only one instance is shared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64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7EB9-D31B-6334-8555-F36C496D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5D5B-F4A8-6EFF-BE8D-78BA6EC7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@Module({</a:t>
            </a:r>
            <a:r>
              <a:rPr lang="en-US" sz="2800" dirty="0"/>
              <a:t>providers: … , controllers: … , …</a:t>
            </a:r>
            <a:r>
              <a:rPr lang="en-US" dirty="0"/>
              <a:t>})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A2E2-B104-A744-F84E-58CD9C3C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providers:</a:t>
            </a:r>
          </a:p>
          <a:p>
            <a:pPr lvl="1"/>
            <a:r>
              <a:rPr lang="en-US" dirty="0"/>
              <a:t>Classes/services that Nest can inject (e.g., services, repositories).</a:t>
            </a:r>
          </a:p>
          <a:p>
            <a:r>
              <a:rPr lang="en-US" b="1" u="sng" dirty="0"/>
              <a:t>controllers:</a:t>
            </a:r>
          </a:p>
          <a:p>
            <a:pPr lvl="1"/>
            <a:r>
              <a:rPr lang="en-US" dirty="0"/>
              <a:t>Controllers that handle incoming HTTP requests.</a:t>
            </a:r>
          </a:p>
          <a:p>
            <a:r>
              <a:rPr lang="en-US" b="1" u="sng" dirty="0"/>
              <a:t>imports:</a:t>
            </a:r>
          </a:p>
          <a:p>
            <a:pPr lvl="1"/>
            <a:r>
              <a:rPr lang="en-US" dirty="0"/>
              <a:t>Other modules whose exported services/providers are required here.</a:t>
            </a:r>
          </a:p>
          <a:p>
            <a:r>
              <a:rPr lang="en-US" b="1" u="sng" dirty="0"/>
              <a:t>exports:</a:t>
            </a:r>
          </a:p>
          <a:p>
            <a:pPr lvl="1"/>
            <a:r>
              <a:rPr lang="en-US" dirty="0"/>
              <a:t>Providers made available to other modules that import this one.</a:t>
            </a:r>
          </a:p>
        </p:txBody>
      </p:sp>
    </p:spTree>
    <p:extLst>
      <p:ext uri="{BB962C8B-B14F-4D97-AF65-F5344CB8AC3E}">
        <p14:creationId xmlns:p14="http://schemas.microsoft.com/office/powerpoint/2010/main" val="286149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9367-3E14-173C-46EB-D8873CFC2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246A-93B0-6A62-9766-ED98A03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Share a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1A422-071B-F156-E912-DC540D97C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68919" cy="4351338"/>
          </a:xfrm>
        </p:spPr>
        <p:txBody>
          <a:bodyPr/>
          <a:lstStyle/>
          <a:p>
            <a:r>
              <a:rPr lang="en-US" b="1" u="sng" dirty="0"/>
              <a:t>To share a provider like CatsService:</a:t>
            </a:r>
          </a:p>
          <a:p>
            <a:r>
              <a:rPr lang="en-US" dirty="0"/>
              <a:t>Define and register CatsService in its own module (e.g., CatsModule).</a:t>
            </a:r>
          </a:p>
          <a:p>
            <a:r>
              <a:rPr lang="en-US" dirty="0"/>
              <a:t>Add CatsService to the exports array of CatsModule.</a:t>
            </a:r>
          </a:p>
          <a:p>
            <a:r>
              <a:rPr lang="en-US" dirty="0"/>
              <a:t>Import CatsModule in any other module that needs to use CatsService.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857A1-4190-F687-5BE2-D0D642D6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4321175"/>
            <a:ext cx="63722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8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</TotalTime>
  <Words>1647</Words>
  <Application>Microsoft Office PowerPoint</Application>
  <PresentationFormat>Widescreen</PresentationFormat>
  <Paragraphs>236</Paragraphs>
  <Slides>48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Introduction [Evolution of Node.js Servers]</vt:lpstr>
      <vt:lpstr>Installation Steps for NestJS</vt:lpstr>
      <vt:lpstr>Installation Steps for NestJS</vt:lpstr>
      <vt:lpstr>Basic CRUD Application</vt:lpstr>
      <vt:lpstr>Folder Structure</vt:lpstr>
      <vt:lpstr>Entry file</vt:lpstr>
      <vt:lpstr>Running the application</vt:lpstr>
      <vt:lpstr>Running the application</vt:lpstr>
      <vt:lpstr>Running the application</vt:lpstr>
      <vt:lpstr>Controllers</vt:lpstr>
      <vt:lpstr>Controllers</vt:lpstr>
      <vt:lpstr>Creating a Controller</vt:lpstr>
      <vt:lpstr>What is a decorator?</vt:lpstr>
      <vt:lpstr>What is a decorator?</vt:lpstr>
      <vt:lpstr>Response Handling in NestJS</vt:lpstr>
      <vt:lpstr>Response Handling in NestJS</vt:lpstr>
      <vt:lpstr>Accessing the Request Object in NestJS</vt:lpstr>
      <vt:lpstr>Accessing the Request Object in NestJS</vt:lpstr>
      <vt:lpstr>Route parameters</vt:lpstr>
      <vt:lpstr>Request Payloads with @Body() in NestJS</vt:lpstr>
      <vt:lpstr>Request Payloads with @Body() in NestJS</vt:lpstr>
      <vt:lpstr>Request Payloads with @Body() in NestJS</vt:lpstr>
      <vt:lpstr>Registering the Controller</vt:lpstr>
      <vt:lpstr>PowerPoint Presentation</vt:lpstr>
      <vt:lpstr>Providers</vt:lpstr>
      <vt:lpstr>Providers</vt:lpstr>
      <vt:lpstr>Providers</vt:lpstr>
      <vt:lpstr>Providers</vt:lpstr>
      <vt:lpstr>Provider Scope (Injection Scopes)</vt:lpstr>
      <vt:lpstr>Scope Hierarchy in NestJS</vt:lpstr>
      <vt:lpstr>Provider Scope Best Practices</vt:lpstr>
      <vt:lpstr>PowerPoint Presentation</vt:lpstr>
      <vt:lpstr>Modules</vt:lpstr>
      <vt:lpstr>Modules</vt:lpstr>
      <vt:lpstr>PowerPoint Presentation</vt:lpstr>
      <vt:lpstr>Understanding Modules in NestJS</vt:lpstr>
      <vt:lpstr>Understanding Modules in NestJS</vt:lpstr>
      <vt:lpstr>Understanding Modules in NestJS</vt:lpstr>
      <vt:lpstr>Understanding Modules in NestJS</vt:lpstr>
      <vt:lpstr>@Module({providers: … , controllers: … , …}) Properties</vt:lpstr>
      <vt:lpstr>How to Share a Provider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Ahmed</dc:creator>
  <cp:lastModifiedBy>Ali Ahmed</cp:lastModifiedBy>
  <cp:revision>417</cp:revision>
  <dcterms:created xsi:type="dcterms:W3CDTF">2025-05-05T08:56:40Z</dcterms:created>
  <dcterms:modified xsi:type="dcterms:W3CDTF">2025-05-08T10:52:26Z</dcterms:modified>
</cp:coreProperties>
</file>